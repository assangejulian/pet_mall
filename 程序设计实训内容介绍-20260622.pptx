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65" r:id="rId6"/>
    <p:sldId id="261" r:id="rId7"/>
    <p:sldId id="271" r:id="rId8"/>
    <p:sldId id="267" r:id="rId9"/>
    <p:sldId id="274" r:id="rId10"/>
    <p:sldId id="272" r:id="rId11"/>
    <p:sldId id="266" r:id="rId12"/>
    <p:sldId id="264" r:id="rId13"/>
    <p:sldId id="275" r:id="rId14"/>
    <p:sldId id="268" r:id="rId15"/>
    <p:sldId id="270" r:id="rId16"/>
    <p:sldId id="27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/>
    <p:restoredTop sz="90896"/>
  </p:normalViewPr>
  <p:slideViewPr>
    <p:cSldViewPr snapToGrid="0">
      <p:cViewPr varScale="1">
        <p:scale>
          <a:sx n="109" d="100"/>
          <a:sy n="109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D2273-F321-4054-A772-50F7FDC7D0FC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2EB8F-D21A-4B5F-8709-58D7E152B0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理论上来说技术不限，</a:t>
            </a:r>
            <a:r>
              <a:rPr kumimoji="1" lang="en-US" altLang="zh-CN"/>
              <a:t>uniapp</a:t>
            </a:r>
            <a:r>
              <a:rPr kumimoji="1" lang="zh-CN" altLang="en-US"/>
              <a:t>，</a:t>
            </a:r>
            <a:r>
              <a:rPr kumimoji="1" lang="en-US" altLang="zh-CN"/>
              <a:t>python</a:t>
            </a:r>
            <a:r>
              <a:rPr kumimoji="1" lang="zh-CN" altLang="en-US"/>
              <a:t>都可以</a:t>
            </a:r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s-ES"/>
              <a:t>商店</a:t>
            </a:r>
            <a:r>
              <a:rPr kumimoji="1" lang="zh-CN" altLang="en-US"/>
              <a:t>和商品有关联，商品属于某个商店。不同的商店允许有相同的商品。</a:t>
            </a:r>
            <a:br>
              <a:rPr kumimoji="1" lang="en-US" altLang="zh-CN"/>
            </a:br>
            <a:r>
              <a:rPr kumimoji="1" lang="zh-CN" altLang="en-US"/>
              <a:t>商品分为两种：</a:t>
            </a:r>
            <a:r>
              <a:rPr kumimoji="1" lang="en-US" altLang="zh-CN"/>
              <a:t>1-</a:t>
            </a:r>
            <a:r>
              <a:rPr kumimoji="1" lang="zh-CN" altLang="en-US"/>
              <a:t>宠物，唯一的；</a:t>
            </a:r>
            <a:r>
              <a:rPr kumimoji="1" lang="en-US" altLang="zh-CN"/>
              <a:t>2-</a:t>
            </a:r>
            <a:r>
              <a:rPr kumimoji="1" lang="zh-CN" altLang="en-US"/>
              <a:t>宠物周边，量不限。</a:t>
            </a:r>
          </a:p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37660-9031-12D8-A6C1-B02595C1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B7DF71-7B61-D8CF-B75A-29437C949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E2C62E-B146-E264-3BA2-AC4F2BB29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0C33CB6B-D2E3-9068-FE5B-17046F43F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5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525C-74E4-AEA1-0AD7-811C28A8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3D4F99-2F66-E2E4-A721-3B4D3256A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A5CFFE-9919-AE68-30F9-2DE2662B3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4066A681-E5CF-BF37-7C7B-41026BBCB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06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2EB8F-D21A-4B5F-8709-58D7E152B03E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1BDC6-4992-4EA6-B603-6BEC0FCD7F2E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8B8-A3F8-41A1-8078-48557BD0F85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du.aliyun.com/trainingcamp/35732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45825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rgbClr val="0070C0"/>
                </a:solidFill>
              </a:rPr>
              <a:t>程序设计实训</a:t>
            </a:r>
            <a:br>
              <a:rPr lang="en-US" altLang="zh-CN" dirty="0">
                <a:solidFill>
                  <a:srgbClr val="0070C0"/>
                </a:solidFill>
              </a:rPr>
            </a:b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sz="4000" dirty="0">
                <a:solidFill>
                  <a:srgbClr val="0070C0"/>
                </a:solidFill>
              </a:rPr>
              <a:t>2025-2026-2</a:t>
            </a:r>
            <a:endParaRPr lang="zh-CN" altLang="en-US" sz="4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926" y="532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b="1" dirty="0">
                <a:solidFill>
                  <a:srgbClr val="FF0000"/>
                </a:solidFill>
              </a:rPr>
              <a:t>学分</a:t>
            </a:r>
            <a:r>
              <a:rPr lang="en-US" altLang="zh-CN" sz="2000" b="1" dirty="0">
                <a:solidFill>
                  <a:srgbClr val="FF0000"/>
                </a:solidFill>
              </a:rPr>
              <a:t>/</a:t>
            </a:r>
            <a:r>
              <a:rPr lang="zh-CN" altLang="zh-CN" sz="2000" b="1" dirty="0">
                <a:solidFill>
                  <a:srgbClr val="FF0000"/>
                </a:solidFill>
              </a:rPr>
              <a:t>学时：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zh-CN" sz="2000" dirty="0">
                <a:solidFill>
                  <a:srgbClr val="FF0000"/>
                </a:solidFill>
              </a:rPr>
              <a:t>学分</a:t>
            </a:r>
            <a:r>
              <a:rPr lang="en-US" altLang="zh-CN" sz="2000" dirty="0">
                <a:solidFill>
                  <a:srgbClr val="FF0000"/>
                </a:solidFill>
              </a:rPr>
              <a:t>/84</a:t>
            </a:r>
            <a:r>
              <a:rPr lang="zh-CN" altLang="zh-CN" sz="2000" dirty="0">
                <a:solidFill>
                  <a:srgbClr val="FF0000"/>
                </a:solidFill>
              </a:rPr>
              <a:t>学时</a:t>
            </a:r>
            <a:br>
              <a:rPr lang="zh-CN" altLang="zh-CN" sz="2000" dirty="0">
                <a:solidFill>
                  <a:srgbClr val="FF0000"/>
                </a:solidFill>
              </a:rPr>
            </a:br>
            <a:r>
              <a:rPr lang="zh-CN" altLang="zh-CN" sz="2000" b="1" dirty="0">
                <a:solidFill>
                  <a:srgbClr val="FF0000"/>
                </a:solidFill>
              </a:rPr>
              <a:t>课程类型：</a:t>
            </a:r>
            <a:r>
              <a:rPr lang="en-US" altLang="zh-CN" sz="2000" b="1" dirty="0">
                <a:solidFill>
                  <a:srgbClr val="FF0000"/>
                </a:solidFill>
              </a:rPr>
              <a:t>  </a:t>
            </a:r>
            <a:r>
              <a:rPr lang="zh-CN" altLang="zh-CN" sz="2000" dirty="0">
                <a:solidFill>
                  <a:srgbClr val="FF0000"/>
                </a:solidFill>
              </a:rPr>
              <a:t>独立实践课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307" y="1485383"/>
            <a:ext cx="10515600" cy="490124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zh-CN" altLang="zh-CN" sz="2400" dirty="0">
                <a:solidFill>
                  <a:srgbClr val="FF0000"/>
                </a:solidFill>
              </a:rPr>
              <a:t>开发技术方面的目标：</a:t>
            </a:r>
          </a:p>
          <a:p>
            <a:pPr>
              <a:lnSpc>
                <a:spcPct val="170000"/>
              </a:lnSpc>
            </a:pPr>
            <a:r>
              <a:rPr lang="zh-CN" altLang="zh-CN" sz="2500" dirty="0"/>
              <a:t>课程目标</a:t>
            </a:r>
            <a:r>
              <a:rPr lang="en-US" altLang="zh-CN" sz="2500" dirty="0"/>
              <a:t>1</a:t>
            </a:r>
            <a:r>
              <a:rPr lang="zh-CN" altLang="zh-CN" sz="2500" dirty="0"/>
              <a:t>：</a:t>
            </a:r>
            <a:r>
              <a:rPr lang="zh-CN" altLang="zh-CN" sz="2500"/>
              <a:t>具备综合运用软件工程方法论进行系统设计与开发的能力，能够在实际项目场景中，辩证地分析并选择合理的设计目标与技术方案</a:t>
            </a:r>
            <a:r>
              <a:rPr lang="zh-CN" altLang="zh-CN" sz="2500">
                <a:effectLst/>
              </a:rPr>
              <a:t> </a:t>
            </a:r>
            <a:r>
              <a:rPr lang="zh-CN" altLang="en-US" sz="2500" dirty="0"/>
              <a:t>（</a:t>
            </a:r>
            <a:r>
              <a:rPr lang="zh-CN" altLang="en-US" sz="2500" dirty="0">
                <a:solidFill>
                  <a:srgbClr val="FF0000"/>
                </a:solidFill>
              </a:rPr>
              <a:t>原型设计工具、建模工具等</a:t>
            </a:r>
            <a:r>
              <a:rPr lang="zh-CN" altLang="en-US" sz="2500" dirty="0"/>
              <a:t>）</a:t>
            </a:r>
            <a:endParaRPr lang="zh-CN" altLang="zh-CN" sz="2500" dirty="0"/>
          </a:p>
          <a:p>
            <a:pPr>
              <a:lnSpc>
                <a:spcPct val="170000"/>
              </a:lnSpc>
            </a:pPr>
            <a:r>
              <a:rPr lang="zh-CN" altLang="zh-CN" sz="2500" dirty="0"/>
              <a:t>课程目标</a:t>
            </a:r>
            <a:r>
              <a:rPr lang="en-US" altLang="zh-CN" sz="2500" dirty="0"/>
              <a:t>2</a:t>
            </a:r>
            <a:r>
              <a:rPr lang="zh-CN" altLang="zh-CN" sz="2500" dirty="0"/>
              <a:t>：</a:t>
            </a:r>
            <a:r>
              <a:rPr lang="zh-CN" altLang="zh-CN" sz="2500"/>
              <a:t>具备将社会责任与伦理意识融入软件工程实践的能力，能够结合公共安全、法律合规性及社会文化等约束论证系统需求的合理性</a:t>
            </a:r>
            <a:r>
              <a:rPr lang="zh-CN" altLang="zh-CN" sz="2500">
                <a:effectLst/>
              </a:rPr>
              <a:t> </a:t>
            </a:r>
            <a:r>
              <a:rPr lang="zh-CN" altLang="en-US" sz="2500" dirty="0"/>
              <a:t>（</a:t>
            </a:r>
            <a:r>
              <a:rPr lang="en-US" altLang="zh-CN" sz="2500" dirty="0">
                <a:solidFill>
                  <a:srgbClr val="FF0000"/>
                </a:solidFill>
              </a:rPr>
              <a:t> Vue</a:t>
            </a:r>
            <a:r>
              <a:rPr lang="zh-CN" altLang="en-US" sz="2500" dirty="0">
                <a:solidFill>
                  <a:srgbClr val="FF0000"/>
                </a:solidFill>
              </a:rPr>
              <a:t>、</a:t>
            </a:r>
            <a:r>
              <a:rPr lang="en-US" altLang="zh-CN" sz="2500" dirty="0" err="1">
                <a:solidFill>
                  <a:srgbClr val="FF0000"/>
                </a:solidFill>
              </a:rPr>
              <a:t>SpringBoot</a:t>
            </a:r>
            <a:r>
              <a:rPr lang="zh-CN" altLang="en-US" sz="2500" dirty="0">
                <a:solidFill>
                  <a:srgbClr val="FF0000"/>
                </a:solidFill>
              </a:rPr>
              <a:t>、</a:t>
            </a:r>
            <a:r>
              <a:rPr lang="en-US" altLang="zh-CN" sz="2500" dirty="0" err="1">
                <a:solidFill>
                  <a:srgbClr val="FF0000"/>
                </a:solidFill>
              </a:rPr>
              <a:t>SpringCloud</a:t>
            </a:r>
            <a:r>
              <a:rPr lang="zh-CN" altLang="en-US" sz="2500" dirty="0">
                <a:solidFill>
                  <a:srgbClr val="FF0000"/>
                </a:solidFill>
              </a:rPr>
              <a:t>、</a:t>
            </a:r>
            <a:r>
              <a:rPr lang="en-US" altLang="zh-CN" sz="2500" dirty="0">
                <a:solidFill>
                  <a:srgbClr val="FF0000"/>
                </a:solidFill>
              </a:rPr>
              <a:t>Android</a:t>
            </a:r>
            <a:r>
              <a:rPr lang="zh-CN" altLang="en-US" sz="2500" dirty="0">
                <a:solidFill>
                  <a:srgbClr val="FF0000"/>
                </a:solidFill>
              </a:rPr>
              <a:t>、高并发缓存</a:t>
            </a:r>
            <a:r>
              <a:rPr lang="en-US" altLang="zh-CN" sz="2500" dirty="0">
                <a:solidFill>
                  <a:srgbClr val="FF0000"/>
                </a:solidFill>
              </a:rPr>
              <a:t>Redis</a:t>
            </a:r>
            <a:r>
              <a:rPr lang="zh-CN" altLang="en-US" sz="2500" dirty="0">
                <a:solidFill>
                  <a:srgbClr val="FF0000"/>
                </a:solidFill>
              </a:rPr>
              <a:t>等、代码测试、项目验收</a:t>
            </a:r>
            <a:r>
              <a:rPr lang="zh-CN" altLang="en-US" sz="2500" dirty="0"/>
              <a:t>）</a:t>
            </a:r>
            <a:endParaRPr lang="zh-CN" altLang="zh-CN" sz="2500" dirty="0"/>
          </a:p>
          <a:p>
            <a:pPr>
              <a:lnSpc>
                <a:spcPct val="170000"/>
              </a:lnSpc>
            </a:pPr>
            <a:r>
              <a:rPr lang="zh-CN" altLang="zh-CN" sz="2500" dirty="0"/>
              <a:t>课程目标</a:t>
            </a:r>
            <a:r>
              <a:rPr lang="en-US" altLang="zh-CN" sz="2500" dirty="0"/>
              <a:t>3</a:t>
            </a:r>
            <a:r>
              <a:rPr lang="zh-CN" altLang="zh-CN" sz="2500" dirty="0"/>
              <a:t>：</a:t>
            </a:r>
            <a:r>
              <a:rPr lang="zh-CN" altLang="zh-CN" sz="2500"/>
              <a:t>具备团队协同工作的能力，能够清晰认知软件项目团队中各角色的职责分工，自觉履行个人角色义务，主动与团队成员协作，保障项目整体进度与质量</a:t>
            </a:r>
            <a:r>
              <a:rPr lang="zh-CN" altLang="zh-CN" sz="2500">
                <a:effectLst/>
              </a:rPr>
              <a:t> </a:t>
            </a:r>
            <a:r>
              <a:rPr lang="zh-CN" altLang="en-US" sz="2500" dirty="0"/>
              <a:t>（</a:t>
            </a:r>
            <a:r>
              <a:rPr lang="zh-CN" altLang="en-US" sz="2500" dirty="0">
                <a:solidFill>
                  <a:srgbClr val="FF0000"/>
                </a:solidFill>
              </a:rPr>
              <a:t>文档、个人完成部分汇报</a:t>
            </a:r>
            <a:r>
              <a:rPr lang="zh-CN" altLang="en-US" sz="2500" dirty="0"/>
              <a:t>）</a:t>
            </a:r>
            <a:endParaRPr lang="zh-CN" altLang="zh-CN" sz="2500" dirty="0"/>
          </a:p>
          <a:p>
            <a:pPr>
              <a:lnSpc>
                <a:spcPct val="170000"/>
              </a:lnSpc>
            </a:pPr>
            <a:r>
              <a:rPr lang="zh-CN" altLang="zh-CN" sz="2500" dirty="0"/>
              <a:t>课程目标</a:t>
            </a:r>
            <a:r>
              <a:rPr lang="en-US" altLang="zh-CN" sz="2500" dirty="0"/>
              <a:t>4</a:t>
            </a:r>
            <a:r>
              <a:rPr lang="zh-CN" altLang="zh-CN" sz="2500" dirty="0"/>
              <a:t>：</a:t>
            </a:r>
            <a:r>
              <a:rPr lang="zh-CN" altLang="zh-CN" sz="2500"/>
              <a:t>具备通过项目答辩进行专业沟通的能力，能够完成清晰的项目陈述，并准确回答评委的提问与质疑</a:t>
            </a:r>
            <a:r>
              <a:rPr lang="zh-CN" altLang="zh-CN" sz="2500">
                <a:effectLst/>
              </a:rPr>
              <a:t> </a:t>
            </a:r>
            <a:r>
              <a:rPr lang="zh-CN" altLang="zh-CN" sz="2500" dirty="0"/>
              <a:t>；</a:t>
            </a:r>
            <a:r>
              <a:rPr lang="zh-CN" altLang="en-US" sz="2500" dirty="0"/>
              <a:t>（</a:t>
            </a:r>
            <a:r>
              <a:rPr lang="en-US" altLang="zh-CN" sz="2500" dirty="0">
                <a:solidFill>
                  <a:srgbClr val="FF0000"/>
                </a:solidFill>
              </a:rPr>
              <a:t>PPT</a:t>
            </a:r>
            <a:r>
              <a:rPr lang="zh-CN" altLang="en-US" sz="2500" dirty="0">
                <a:solidFill>
                  <a:srgbClr val="FF0000"/>
                </a:solidFill>
              </a:rPr>
              <a:t>准备、项目汇报</a:t>
            </a:r>
            <a:r>
              <a:rPr lang="zh-CN" altLang="en-US" sz="2500" dirty="0"/>
              <a:t>）</a:t>
            </a:r>
            <a:endParaRPr lang="zh-CN" altLang="zh-CN" sz="2500" dirty="0"/>
          </a:p>
          <a:p>
            <a:pPr>
              <a:lnSpc>
                <a:spcPct val="170000"/>
              </a:lnSpc>
            </a:pPr>
            <a:r>
              <a:rPr lang="zh-CN" altLang="zh-CN" sz="2500" dirty="0"/>
              <a:t>课程目标</a:t>
            </a:r>
            <a:r>
              <a:rPr lang="en-US" altLang="zh-CN" sz="2500" dirty="0"/>
              <a:t>5</a:t>
            </a:r>
            <a:r>
              <a:rPr lang="zh-CN" altLang="zh-CN" sz="2500" dirty="0"/>
              <a:t>：</a:t>
            </a:r>
            <a:r>
              <a:rPr lang="zh-CN" altLang="zh-CN" sz="2500"/>
              <a:t>具备熟练使用项目管理软件对软件项目进行全流程管理的能力，能够利用工具完成任务分解，实时跟踪范围、进度的执行情况</a:t>
            </a:r>
            <a:r>
              <a:rPr lang="zh-CN" altLang="zh-CN" sz="2500">
                <a:effectLst/>
              </a:rPr>
              <a:t> </a:t>
            </a:r>
            <a:r>
              <a:rPr lang="zh-CN" altLang="zh-CN" sz="2500" dirty="0"/>
              <a:t>。</a:t>
            </a:r>
            <a:r>
              <a:rPr lang="zh-CN" altLang="en-US" sz="2500" dirty="0"/>
              <a:t>（</a:t>
            </a:r>
            <a:r>
              <a:rPr lang="en-US" altLang="zh-CN" sz="2500" dirty="0">
                <a:solidFill>
                  <a:srgbClr val="FF0000"/>
                </a:solidFill>
              </a:rPr>
              <a:t>SVN</a:t>
            </a:r>
            <a:r>
              <a:rPr lang="zh-CN" altLang="en-US" sz="2500" dirty="0">
                <a:solidFill>
                  <a:srgbClr val="FF0000"/>
                </a:solidFill>
              </a:rPr>
              <a:t>、</a:t>
            </a:r>
            <a:r>
              <a:rPr lang="en-US" altLang="zh-CN" sz="2500" dirty="0">
                <a:solidFill>
                  <a:srgbClr val="FF0000"/>
                </a:solidFill>
              </a:rPr>
              <a:t>CVS</a:t>
            </a:r>
            <a:r>
              <a:rPr lang="zh-CN" altLang="en-US" sz="2500" dirty="0">
                <a:solidFill>
                  <a:srgbClr val="FF0000"/>
                </a:solidFill>
              </a:rPr>
              <a:t>、</a:t>
            </a:r>
            <a:r>
              <a:rPr lang="en-US" altLang="zh-CN" sz="2500" dirty="0">
                <a:solidFill>
                  <a:srgbClr val="FF0000"/>
                </a:solidFill>
              </a:rPr>
              <a:t>Gitee</a:t>
            </a:r>
            <a:r>
              <a:rPr lang="zh-CN" altLang="en-US" sz="2500" dirty="0">
                <a:solidFill>
                  <a:srgbClr val="FF0000"/>
                </a:solidFill>
              </a:rPr>
              <a:t>，禅道</a:t>
            </a:r>
            <a:r>
              <a:rPr lang="zh-CN" altLang="en-US" sz="2500" dirty="0"/>
              <a:t>）</a:t>
            </a:r>
            <a:endParaRPr lang="zh-CN" altLang="zh-CN" sz="2500" dirty="0"/>
          </a:p>
          <a:p>
            <a:pPr marL="0" indent="0">
              <a:buNone/>
            </a:pPr>
            <a:endParaRPr lang="zh-CN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2"/>
            <a:ext cx="10515600" cy="819186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项目要求：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3797" y="100676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一、指定题目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2-4</a:t>
            </a:r>
            <a:r>
              <a:rPr lang="zh-CN" altLang="en-US" dirty="0"/>
              <a:t>人一组（班级内自由组队，未组队的同学自动分组）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项目名称：宠物商店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二、自拟题目（仅限于可提供实习证明的同学）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与老师确认后可确定自选题目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技术要求：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1276" y="125333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原型软件，</a:t>
            </a:r>
            <a:r>
              <a:rPr lang="en-US" altLang="zh-CN" dirty="0"/>
              <a:t>UML</a:t>
            </a:r>
            <a:r>
              <a:rPr lang="zh-CN" altLang="en-US" dirty="0"/>
              <a:t>建模工具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Android</a:t>
            </a:r>
            <a:r>
              <a:rPr lang="zh-CN" altLang="en-US" dirty="0"/>
              <a:t>，</a:t>
            </a:r>
            <a:r>
              <a:rPr lang="en-US" altLang="zh-CN" dirty="0"/>
              <a:t>IOS</a:t>
            </a:r>
            <a:r>
              <a:rPr lang="zh-CN" altLang="en-US" dirty="0"/>
              <a:t>，</a:t>
            </a:r>
            <a:r>
              <a:rPr lang="en-US" altLang="zh-CN" dirty="0"/>
              <a:t>uni-app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Vue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SpringBoot</a:t>
            </a:r>
            <a:r>
              <a:rPr lang="zh-CN" altLang="en-US" dirty="0"/>
              <a:t>、</a:t>
            </a:r>
            <a:r>
              <a:rPr lang="en-US" altLang="zh-CN" dirty="0"/>
              <a:t>SpringCloud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Gitee</a:t>
            </a:r>
            <a:r>
              <a:rPr lang="zh-CN" altLang="en-US" dirty="0"/>
              <a:t>、</a:t>
            </a:r>
            <a:r>
              <a:rPr lang="en-US" altLang="zh-CN" dirty="0"/>
              <a:t>SVN</a:t>
            </a:r>
            <a:r>
              <a:rPr lang="zh-CN" altLang="en-US" dirty="0"/>
              <a:t>、</a:t>
            </a:r>
            <a:r>
              <a:rPr lang="en-US" altLang="zh-CN" dirty="0"/>
              <a:t>CVS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禅道、 飞书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代码扫描工具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大模型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采用的开发平台</a:t>
            </a:r>
            <a:r>
              <a:rPr lang="en-US" altLang="zh-CN" sz="2400" dirty="0">
                <a:solidFill>
                  <a:srgbClr val="FF0000"/>
                </a:solidFill>
              </a:rPr>
              <a:t>IDE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362" y="156335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Android—</a:t>
            </a:r>
            <a:r>
              <a:rPr lang="en-US" altLang="zh-CN" dirty="0">
                <a:solidFill>
                  <a:srgbClr val="0070C0"/>
                </a:solidFill>
              </a:rPr>
              <a:t>Android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Studio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zh-CN" altLang="en-US" dirty="0"/>
              <a:t>（</a:t>
            </a:r>
            <a:r>
              <a:rPr lang="en-US" altLang="zh-CN" dirty="0"/>
              <a:t>uni-app</a:t>
            </a:r>
            <a:r>
              <a:rPr lang="zh-CN" altLang="en-US" dirty="0"/>
              <a:t>：</a:t>
            </a:r>
            <a:r>
              <a:rPr lang="en-US" altLang="zh-CN" dirty="0"/>
              <a:t>HBuilderX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Vue</a:t>
            </a:r>
            <a:r>
              <a:rPr lang="zh-CN" altLang="en-US" dirty="0"/>
              <a:t> </a:t>
            </a:r>
            <a:r>
              <a:rPr lang="en-US" altLang="zh-CN" dirty="0"/>
              <a:t>--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VSCode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SpringBoot</a:t>
            </a:r>
            <a:r>
              <a:rPr lang="zh-CN" altLang="en-US" dirty="0"/>
              <a:t>、</a:t>
            </a:r>
            <a:r>
              <a:rPr lang="en-US" altLang="zh-CN" dirty="0" err="1"/>
              <a:t>SpringCloud</a:t>
            </a:r>
            <a:r>
              <a:rPr lang="en-US" altLang="zh-CN" dirty="0"/>
              <a:t>—</a:t>
            </a:r>
            <a:r>
              <a:rPr lang="en-US" altLang="zh-CN" dirty="0">
                <a:solidFill>
                  <a:srgbClr val="0070C0"/>
                </a:solidFill>
              </a:rPr>
              <a:t>IDEA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自选</a:t>
            </a:r>
            <a:endParaRPr lang="en-US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实现功能：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0" y="992309"/>
            <a:ext cx="6846277" cy="5537446"/>
          </a:xfrm>
        </p:spPr>
        <p:txBody>
          <a:bodyPr>
            <a:normAutofit/>
          </a:bodyPr>
          <a:lstStyle/>
          <a:p>
            <a:pPr marL="457200" indent="0" algn="just">
              <a:lnSpc>
                <a:spcPct val="150000"/>
              </a:lnSpc>
              <a:buNone/>
            </a:pPr>
            <a:r>
              <a:rPr lang="zh-CN" altLang="en-US" sz="22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前</a:t>
            </a:r>
            <a:r>
              <a:rPr lang="zh-CN" altLang="zh-CN" sz="2200" b="1" kern="100" dirty="0">
                <a:solidFill>
                  <a:srgbClr val="0070C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端：</a:t>
            </a:r>
            <a:endParaRPr lang="en-US" altLang="zh-CN" sz="2200" b="1" kern="100" dirty="0">
              <a:solidFill>
                <a:srgbClr val="0070C0"/>
              </a:solidFill>
              <a:effectLst/>
              <a:latin typeface="Times New Roman" panose="02020503050405090304" pitchFamily="18" charset="0"/>
              <a:ea typeface="宋体" pitchFamily="2" charset="-122"/>
              <a:cs typeface="宋体" pitchFamily="2" charset="-122"/>
            </a:endParaRPr>
          </a:p>
          <a:p>
            <a:pPr marL="457200"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1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）系统注册登陆：支持用户名密码登陆、第三方账号登录。</a:t>
            </a:r>
            <a:r>
              <a:rPr lang="zh-CN" altLang="zh-CN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指纹、人脸</a:t>
            </a:r>
            <a:r>
              <a:rPr lang="zh-CN" altLang="en-US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、手机短信等</a:t>
            </a:r>
            <a:r>
              <a:rPr lang="zh-CN" altLang="zh-CN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登录</a:t>
            </a:r>
            <a:r>
              <a:rPr lang="zh-CN" altLang="en-US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方式</a:t>
            </a:r>
            <a:r>
              <a:rPr lang="zh-CN" altLang="zh-CN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（选做</a:t>
            </a:r>
            <a:r>
              <a:rPr lang="zh-CN" altLang="en-US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，调用第三方服务</a:t>
            </a:r>
            <a:r>
              <a:rPr lang="zh-CN" altLang="zh-CN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）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。</a:t>
            </a:r>
            <a:endParaRPr lang="zh-CN" altLang="zh-CN" sz="2100" kern="100" dirty="0">
              <a:effectLst/>
              <a:latin typeface="+mj-ea"/>
              <a:ea typeface="+mj-ea"/>
            </a:endParaRPr>
          </a:p>
          <a:p>
            <a:pPr marL="457200"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2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）个人中心：设置个人信息、收货地址（多个，要有一个默认）、设定指纹人脸（选做）。</a:t>
            </a:r>
            <a:endParaRPr lang="en-US" altLang="zh-CN" sz="2100" kern="100" dirty="0">
              <a:solidFill>
                <a:srgbClr val="000000"/>
              </a:solidFill>
              <a:effectLst/>
              <a:latin typeface="+mj-ea"/>
              <a:ea typeface="+mj-ea"/>
              <a:cs typeface="宋体" pitchFamily="2" charset="-122"/>
            </a:endParaRPr>
          </a:p>
          <a:p>
            <a:pPr marL="457200" indent="0" algn="just">
              <a:lnSpc>
                <a:spcPct val="150000"/>
              </a:lnSpc>
              <a:buNone/>
            </a:pPr>
            <a:endParaRPr lang="zh-CN" altLang="zh-CN" sz="2100" kern="100" dirty="0">
              <a:effectLst/>
              <a:latin typeface="+mj-ea"/>
              <a:ea typeface="+mj-ea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 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E7832A-5482-E5B1-A661-B0B06AAE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663331"/>
            <a:ext cx="38862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1852" y="12147"/>
            <a:ext cx="10515600" cy="133778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实现功能：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00381"/>
            <a:ext cx="5439508" cy="5745472"/>
          </a:xfrm>
        </p:spPr>
        <p:txBody>
          <a:bodyPr>
            <a:normAutofit lnSpcReduction="10000"/>
          </a:bodyPr>
          <a:lstStyle/>
          <a:p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（</a:t>
            </a:r>
            <a:r>
              <a:rPr lang="en-US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）浏览附近宠物商店：支持商店详细地址查看、周边搜索及路线搜索；地图中搜索的结果是本地数据库中的商店信息（将本地数据库中的商店显示在地图上，并且可以实现从定位位置到目的商店的导航，可以调用百度，高德等地图插件）。商品属于某个商店，不同的商店允许有相同的商品。商品分为两种：</a:t>
            </a:r>
            <a:r>
              <a:rPr lang="en-US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1-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宠物，唯一的；</a:t>
            </a:r>
            <a:r>
              <a:rPr lang="en-US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2-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宠物周边，量不限。（参考：</a:t>
            </a:r>
            <a:r>
              <a:rPr lang="en-US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Spring Boot2.6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实战</a:t>
            </a:r>
            <a:r>
              <a:rPr lang="en-US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MongoDB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搜索附近的人车店）</a:t>
            </a:r>
            <a:r>
              <a:rPr lang="en-US" altLang="zh-CN" dirty="0">
                <a:hlinkClick r:id="rId2"/>
              </a:rPr>
              <a:t>【</a:t>
            </a:r>
            <a:r>
              <a:rPr lang="zh-CN" altLang="en-US" dirty="0">
                <a:hlinkClick r:id="rId2"/>
              </a:rPr>
              <a:t>高校</a:t>
            </a:r>
            <a:r>
              <a:rPr lang="en-US" altLang="zh-CN" dirty="0">
                <a:hlinkClick r:id="rId2"/>
              </a:rPr>
              <a:t>】</a:t>
            </a:r>
            <a:r>
              <a:rPr lang="zh-CN" altLang="en-US" dirty="0">
                <a:hlinkClick r:id="rId2"/>
              </a:rPr>
              <a:t>电商网站开发训练营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阿里云培训中心</a:t>
            </a:r>
            <a:r>
              <a:rPr lang="en-US" altLang="zh-CN" dirty="0">
                <a:hlinkClick r:id="rId2"/>
              </a:rPr>
              <a:t>-</a:t>
            </a:r>
            <a:r>
              <a:rPr lang="zh-CN" altLang="en-US" dirty="0">
                <a:hlinkClick r:id="rId2"/>
              </a:rPr>
              <a:t>阿里云</a:t>
            </a:r>
            <a:r>
              <a:rPr lang="zh-CN" altLang="zh-CN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。</a:t>
            </a:r>
            <a:endParaRPr lang="zh-CN" altLang="zh-CN" kern="100" dirty="0">
              <a:latin typeface="+mj-ea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1386F4-7571-177B-0032-2FEEE20C3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425" y="783980"/>
            <a:ext cx="6514413" cy="4936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实现功能：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3900" y="1203325"/>
            <a:ext cx="10515600" cy="4351338"/>
          </a:xfrm>
        </p:spPr>
        <p:txBody>
          <a:bodyPr>
            <a:normAutofit lnSpcReduction="10000"/>
          </a:bodyPr>
          <a:lstStyle/>
          <a:p>
            <a:pPr marL="457200" indent="0" algn="just">
              <a:lnSpc>
                <a:spcPct val="150000"/>
              </a:lnSpc>
              <a:buNone/>
            </a:pPr>
            <a:r>
              <a:rPr lang="zh-CN" altLang="en-US" sz="20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前</a:t>
            </a:r>
            <a:r>
              <a:rPr lang="zh-CN" altLang="zh-CN" sz="20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端：</a:t>
            </a:r>
            <a:endParaRPr lang="en-US" altLang="zh-CN" sz="2000" b="1" kern="100" dirty="0">
              <a:solidFill>
                <a:srgbClr val="0070C0"/>
              </a:solidFill>
              <a:latin typeface="宋体" pitchFamily="2" charset="-122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4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）游客和会员：都可以查看商店和商品，升级成会员后可以购买及进行订单管理（包括评价）。</a:t>
            </a:r>
            <a:endParaRPr lang="zh-CN" altLang="zh-CN" sz="2100" kern="100" dirty="0">
              <a:effectLst/>
              <a:latin typeface="+mj-ea"/>
              <a:ea typeface="+mj-ea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5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）观看宠物视频：浏览视频列表和视频播放；视频中可以链接到商品。商品详情中有视频介绍。</a:t>
            </a:r>
            <a:r>
              <a:rPr lang="zh-CN" altLang="en-US" sz="2100" kern="100" dirty="0">
                <a:solidFill>
                  <a:srgbClr val="000000"/>
                </a:solidFill>
                <a:latin typeface="+mj-ea"/>
                <a:cs typeface="宋体" pitchFamily="2" charset="-122"/>
              </a:rPr>
              <a:t>播放视频由某大模型生成（</a:t>
            </a:r>
            <a:r>
              <a:rPr lang="zh-CN" altLang="en-US" sz="2100" kern="100" dirty="0">
                <a:solidFill>
                  <a:srgbClr val="FF0000"/>
                </a:solidFill>
                <a:latin typeface="+mj-ea"/>
              </a:rPr>
              <a:t>通义万相。。。</a:t>
            </a:r>
            <a:r>
              <a:rPr lang="zh-CN" altLang="en-US" sz="2100" kern="100" dirty="0">
                <a:solidFill>
                  <a:srgbClr val="000000"/>
                </a:solidFill>
                <a:latin typeface="+mj-ea"/>
              </a:rPr>
              <a:t>）。</a:t>
            </a:r>
            <a:endParaRPr lang="en-US" altLang="zh-CN" sz="2100" kern="100" dirty="0">
              <a:solidFill>
                <a:srgbClr val="000000"/>
              </a:solidFill>
              <a:latin typeface="+mj-ea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6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）消息推送 ：可以接受开发者向用户推送信息，如宠物相关信息等（</a:t>
            </a:r>
            <a:r>
              <a:rPr lang="zh-CN" altLang="zh-CN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选做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）。</a:t>
            </a:r>
            <a:endParaRPr lang="zh-CN" altLang="zh-CN" sz="2100" kern="100" dirty="0">
              <a:effectLst/>
              <a:latin typeface="+mj-ea"/>
              <a:ea typeface="+mj-ea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7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）订单生成：可以选择商品数量和规格，加入购物车，生成订单</a:t>
            </a:r>
            <a:r>
              <a:rPr lang="zh-CN" altLang="en-US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zh-CN" altLang="en-US" sz="2100" kern="100" dirty="0">
                <a:solidFill>
                  <a:srgbClr val="FF0000"/>
                </a:solidFill>
                <a:effectLst/>
                <a:latin typeface="+mj-ea"/>
                <a:ea typeface="+mj-ea"/>
                <a:cs typeface="宋体" pitchFamily="2" charset="-122"/>
              </a:rPr>
              <a:t>需要完整的订单流程</a:t>
            </a:r>
            <a:r>
              <a:rPr lang="zh-CN" altLang="en-US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。</a:t>
            </a:r>
            <a:endParaRPr lang="zh-CN" altLang="zh-CN" sz="2100" kern="100" dirty="0">
              <a:effectLst/>
              <a:latin typeface="+mj-ea"/>
              <a:ea typeface="+mj-ea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903F1-7561-11DA-B960-A341D227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A8083-1ACD-E7D7-3562-13354D35E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实现功能：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E39A5A6-C1FF-039D-D690-0DFBDF0DC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203325"/>
            <a:ext cx="10515600" cy="5530554"/>
          </a:xfrm>
        </p:spPr>
        <p:txBody>
          <a:bodyPr>
            <a:normAutofit/>
          </a:bodyPr>
          <a:lstStyle/>
          <a:p>
            <a:pPr marL="457200" indent="0" algn="just">
              <a:lnSpc>
                <a:spcPct val="150000"/>
              </a:lnSpc>
              <a:buNone/>
            </a:pPr>
            <a:r>
              <a:rPr lang="zh-CN" altLang="en-US" sz="18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前</a:t>
            </a:r>
            <a:r>
              <a:rPr lang="zh-CN" altLang="zh-CN" sz="18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端：</a:t>
            </a:r>
            <a:endParaRPr lang="en-US" altLang="zh-CN" sz="1800" b="1" kern="100" dirty="0">
              <a:solidFill>
                <a:srgbClr val="0070C0"/>
              </a:solidFill>
              <a:latin typeface="宋体" pitchFamily="2" charset="-122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latin typeface="+mj-ea"/>
                <a:ea typeface="+mj-ea"/>
                <a:cs typeface="宋体" pitchFamily="2" charset="-122"/>
              </a:rPr>
              <a:t>7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</a:t>
            </a:r>
            <a:r>
              <a:rPr lang="zh-CN" altLang="en-US" sz="1800" kern="100" dirty="0">
                <a:solidFill>
                  <a:srgbClr val="FF0000"/>
                </a:solidFill>
                <a:latin typeface="+mj-ea"/>
                <a:cs typeface="宋体" pitchFamily="2" charset="-122"/>
              </a:rPr>
              <a:t>完整的订单流程</a:t>
            </a:r>
            <a:r>
              <a:rPr lang="zh-CN" altLang="en-US" sz="1800" kern="100" dirty="0">
                <a:solidFill>
                  <a:srgbClr val="000000"/>
                </a:solidFill>
                <a:latin typeface="+mj-ea"/>
                <a:ea typeface="+mj-ea"/>
                <a:cs typeface="宋体" pitchFamily="2" charset="-122"/>
              </a:rPr>
              <a:t>，</a:t>
            </a:r>
            <a:r>
              <a:rPr lang="zh-CN" altLang="zh-CN" sz="1800"/>
              <a:t>订单状态</a:t>
            </a:r>
          </a:p>
          <a:p>
            <a:r>
              <a:rPr lang="en-US" altLang="zh-CN" sz="1800"/>
              <a:t>0-</a:t>
            </a:r>
            <a:r>
              <a:rPr lang="zh-CN" altLang="zh-CN" sz="1800"/>
              <a:t>已下单（待支付）</a:t>
            </a:r>
            <a:r>
              <a:rPr lang="en-US" altLang="zh-CN" sz="1800"/>
              <a:t>--</a:t>
            </a:r>
            <a:r>
              <a:rPr lang="zh-CN" altLang="zh-CN" sz="1800"/>
              <a:t>前端用户</a:t>
            </a:r>
          </a:p>
          <a:p>
            <a:r>
              <a:rPr lang="en-US" altLang="zh-CN" sz="1800"/>
              <a:t>1-</a:t>
            </a:r>
            <a:r>
              <a:rPr lang="zh-CN" altLang="zh-CN" sz="1800"/>
              <a:t>已支付（待发货）</a:t>
            </a:r>
            <a:r>
              <a:rPr lang="en-US" altLang="zh-CN" sz="1800"/>
              <a:t>--</a:t>
            </a:r>
            <a:r>
              <a:rPr lang="zh-CN" altLang="zh-CN" sz="1800"/>
              <a:t>前端用户</a:t>
            </a:r>
          </a:p>
          <a:p>
            <a:r>
              <a:rPr lang="en-US" altLang="zh-CN" sz="1800"/>
              <a:t>2-</a:t>
            </a:r>
            <a:r>
              <a:rPr lang="zh-CN" altLang="zh-CN" sz="1800"/>
              <a:t>已发货（待收货）</a:t>
            </a:r>
            <a:r>
              <a:rPr lang="en-US" altLang="zh-CN" sz="1800"/>
              <a:t>--</a:t>
            </a:r>
            <a:r>
              <a:rPr lang="zh-CN" altLang="zh-CN" sz="1800"/>
              <a:t>管理员</a:t>
            </a:r>
          </a:p>
          <a:p>
            <a:r>
              <a:rPr lang="en-US" altLang="zh-CN" sz="1800"/>
              <a:t>3-</a:t>
            </a:r>
            <a:r>
              <a:rPr lang="zh-CN" altLang="zh-CN" sz="1800"/>
              <a:t>已收货（待评价）</a:t>
            </a:r>
            <a:r>
              <a:rPr lang="en-US" altLang="zh-CN" sz="1800"/>
              <a:t>--</a:t>
            </a:r>
            <a:r>
              <a:rPr lang="zh-CN" altLang="zh-CN" sz="1800"/>
              <a:t>前端用户</a:t>
            </a:r>
          </a:p>
          <a:p>
            <a:r>
              <a:rPr lang="en-US" altLang="zh-CN" sz="1800"/>
              <a:t>4-</a:t>
            </a:r>
            <a:r>
              <a:rPr lang="zh-CN" altLang="zh-CN" sz="1800"/>
              <a:t>已评价</a:t>
            </a:r>
            <a:r>
              <a:rPr lang="en-US" altLang="zh-CN" sz="1800"/>
              <a:t>--</a:t>
            </a:r>
            <a:r>
              <a:rPr lang="zh-CN" altLang="zh-CN" sz="1800"/>
              <a:t>前端用户（结束）</a:t>
            </a:r>
          </a:p>
          <a:p>
            <a:r>
              <a:rPr lang="en-US" altLang="zh-CN" sz="1800"/>
              <a:t>-1-</a:t>
            </a:r>
            <a:r>
              <a:rPr lang="zh-CN" altLang="zh-CN" sz="1800"/>
              <a:t>取消订单（订单状态</a:t>
            </a:r>
            <a:r>
              <a:rPr lang="en-US" altLang="zh-CN" sz="1800"/>
              <a:t>0-1</a:t>
            </a:r>
            <a:r>
              <a:rPr lang="zh-CN" altLang="zh-CN" sz="1800"/>
              <a:t>才能取消订单）（结束），有个取消说明，是用户取消还是时间到了未支付自动取消</a:t>
            </a:r>
          </a:p>
          <a:p>
            <a:r>
              <a:rPr lang="en-US" altLang="zh-CN" sz="1800"/>
              <a:t>-2-</a:t>
            </a:r>
            <a:r>
              <a:rPr lang="zh-CN" altLang="zh-CN" sz="1800"/>
              <a:t>申请退单，需要录入退单理由（订单状态</a:t>
            </a:r>
            <a:r>
              <a:rPr lang="en-US" altLang="zh-CN" sz="1800"/>
              <a:t>2-3</a:t>
            </a:r>
            <a:r>
              <a:rPr lang="zh-CN" altLang="zh-CN" sz="1800"/>
              <a:t>才能申请退单）</a:t>
            </a:r>
          </a:p>
          <a:p>
            <a:r>
              <a:rPr lang="en-US" altLang="zh-CN" sz="1800"/>
              <a:t>-3-</a:t>
            </a:r>
            <a:r>
              <a:rPr lang="zh-CN" altLang="zh-CN" sz="1800"/>
              <a:t>管理员审核通过，允许退单，退单成功（结束）。如果审核不通过，订单状态修改为原来的状态（可能是</a:t>
            </a:r>
            <a:r>
              <a:rPr lang="en-US" altLang="zh-CN" sz="1800"/>
              <a:t>2-3</a:t>
            </a:r>
            <a:r>
              <a:rPr lang="zh-CN" altLang="zh-CN" sz="1800"/>
              <a:t>），然后可以继续申请退单。</a:t>
            </a:r>
          </a:p>
          <a:p>
            <a:r>
              <a:rPr lang="en-US" altLang="zh-CN" sz="1800"/>
              <a:t>-4-</a:t>
            </a:r>
            <a:r>
              <a:rPr lang="zh-CN" altLang="zh-CN" sz="1800"/>
              <a:t>管理员直接退单（已收货才能申请退单），标记状态为</a:t>
            </a:r>
            <a:r>
              <a:rPr lang="en-US" altLang="zh-CN" sz="1800"/>
              <a:t>-4</a:t>
            </a:r>
            <a:r>
              <a:rPr lang="zh-CN" altLang="zh-CN" sz="1800"/>
              <a:t>，需要录入退单理由</a:t>
            </a:r>
          </a:p>
          <a:p>
            <a:pPr indent="0" algn="just">
              <a:lnSpc>
                <a:spcPct val="150000"/>
              </a:lnSpc>
              <a:buNone/>
            </a:pPr>
            <a:endParaRPr lang="zh-CN" altLang="zh-CN" sz="2100" kern="100" dirty="0">
              <a:effectLst/>
              <a:latin typeface="+mj-ea"/>
              <a:ea typeface="+mj-ea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91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2"/>
            <a:ext cx="10515600" cy="73726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实现功能：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91987" y="752751"/>
            <a:ext cx="5310936" cy="5636326"/>
          </a:xfrm>
        </p:spPr>
        <p:txBody>
          <a:bodyPr>
            <a:normAutofit/>
          </a:bodyPr>
          <a:lstStyle/>
          <a:p>
            <a:pPr marL="457200" indent="0" algn="just">
              <a:lnSpc>
                <a:spcPct val="150000"/>
              </a:lnSpc>
              <a:buNone/>
            </a:pPr>
            <a:r>
              <a:rPr lang="zh-CN" altLang="en-US" sz="20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前</a:t>
            </a:r>
            <a:r>
              <a:rPr lang="zh-CN" altLang="zh-CN" sz="20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端：</a:t>
            </a:r>
            <a:endParaRPr lang="en-US" altLang="zh-CN" sz="2000" b="1" kern="100" dirty="0">
              <a:solidFill>
                <a:srgbClr val="0070C0"/>
              </a:solidFill>
              <a:latin typeface="宋体" pitchFamily="2" charset="-122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（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8</a:t>
            </a:r>
            <a:r>
              <a:rPr lang="zh-CN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）</a:t>
            </a:r>
            <a:r>
              <a:rPr lang="en-US" altLang="zh-CN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AI</a:t>
            </a:r>
            <a:r>
              <a:rPr lang="zh-CN" altLang="en-US" sz="2100" kern="100" dirty="0">
                <a:solidFill>
                  <a:srgbClr val="000000"/>
                </a:solidFill>
                <a:effectLst/>
                <a:latin typeface="+mj-ea"/>
                <a:ea typeface="+mj-ea"/>
                <a:cs typeface="宋体" pitchFamily="2" charset="-122"/>
              </a:rPr>
              <a:t>智能问答助手，</a:t>
            </a:r>
            <a:r>
              <a:rPr lang="zh-CN" altLang="en-US" sz="2100" kern="100" dirty="0">
                <a:solidFill>
                  <a:srgbClr val="000000"/>
                </a:solidFill>
                <a:latin typeface="+mj-ea"/>
                <a:ea typeface="+mj-ea"/>
                <a:cs typeface="宋体" pitchFamily="2" charset="-122"/>
              </a:rPr>
              <a:t>调用大模型接口，实现百问百答机器人（</a:t>
            </a:r>
            <a:r>
              <a:rPr lang="zh-CN" altLang="en-US" sz="2400" kern="100" dirty="0">
                <a:solidFill>
                  <a:srgbClr val="000000"/>
                </a:solidFill>
                <a:latin typeface="+mj-ea"/>
                <a:ea typeface="+mj-ea"/>
                <a:cs typeface="宋体" pitchFamily="2" charset="-122"/>
              </a:rPr>
              <a:t>客服</a:t>
            </a:r>
            <a:r>
              <a:rPr lang="zh-CN" altLang="en-US" sz="2400" dirty="0"/>
              <a:t>、推荐、宠物相关知识：如宠物喂养。。。</a:t>
            </a:r>
            <a:r>
              <a:rPr lang="zh-CN" altLang="en-US" sz="2100" kern="100" dirty="0">
                <a:solidFill>
                  <a:srgbClr val="000000"/>
                </a:solidFill>
                <a:latin typeface="+mj-ea"/>
                <a:ea typeface="+mj-ea"/>
                <a:cs typeface="宋体" pitchFamily="2" charset="-122"/>
              </a:rPr>
              <a:t>）</a:t>
            </a:r>
            <a:endParaRPr lang="en-US" altLang="zh-CN" sz="2100" kern="1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23" y="752750"/>
            <a:ext cx="4283842" cy="5591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743" y="64488"/>
            <a:ext cx="10515600" cy="1033166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功能要求：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08276" y="1001540"/>
            <a:ext cx="11029674" cy="4351338"/>
          </a:xfrm>
        </p:spPr>
        <p:txBody>
          <a:bodyPr>
            <a:normAutofit fontScale="92500" lnSpcReduction="10000"/>
          </a:bodyPr>
          <a:lstStyle/>
          <a:p>
            <a:pPr marL="0" indent="0" algn="just" fontAlgn="auto">
              <a:lnSpc>
                <a:spcPct val="150000"/>
              </a:lnSpc>
              <a:buNone/>
            </a:pPr>
            <a:r>
              <a:rPr lang="zh-CN" altLang="en-US" sz="20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后</a:t>
            </a:r>
            <a:r>
              <a:rPr lang="zh-CN" altLang="zh-CN" sz="20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端：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）商品和商店的管理：可以实现后端商品管理和商店管理。</a:t>
            </a:r>
            <a:endParaRPr lang="zh-CN" altLang="zh-CN" sz="1800" kern="100" dirty="0">
              <a:effectLst/>
              <a:latin typeface="Times New Roman" panose="02020503050405090304" pitchFamily="18" charset="0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2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）视频管理：可以后端上传宠物视频在前端显示。</a:t>
            </a:r>
            <a:endParaRPr lang="zh-CN" altLang="zh-CN" sz="1800" kern="100" dirty="0">
              <a:effectLst/>
              <a:latin typeface="Times New Roman" panose="02020503050405090304" pitchFamily="18" charset="0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3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）会员管理：查看用户列表即可。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（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宋体" pitchFamily="2" charset="-122"/>
              </a:rPr>
              <a:t>）订单管理：完整的订单流程，包括退单。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1800" b="1" kern="100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  <a:sym typeface="+mn-ea"/>
              </a:rPr>
              <a:t>安全性：</a:t>
            </a:r>
            <a:endParaRPr lang="en-US" altLang="zh-CN" sz="1800" kern="100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所有的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java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代码使用工具扫描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，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满足国标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GBT34944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要求，扫描完后按照要求修改，直到没有高危漏洞并且编码规范达到要求。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（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采用厦门理工学院软件与信息安全测评实验室的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SAST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工具完成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）</a:t>
            </a:r>
            <a:endParaRPr lang="zh-CN" altLang="en-US" sz="1800" kern="10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为满足系统安全性</a:t>
            </a:r>
            <a:r>
              <a:rPr lang="en-US" altLang="zh-CN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，</a:t>
            </a:r>
            <a:r>
              <a:rPr lang="zh-CN" altLang="en-US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系统要采用系统安全扫描工具</a:t>
            </a:r>
            <a:r>
              <a:rPr lang="en-US" altLang="zh-CN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APPScan</a:t>
            </a:r>
            <a:r>
              <a:rPr lang="zh-CN" altLang="en-US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扫描</a:t>
            </a:r>
            <a:r>
              <a:rPr lang="en-US" altLang="zh-CN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，</a:t>
            </a:r>
            <a:r>
              <a:rPr lang="zh-CN" altLang="en-US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报告不能存在中高危漏洞</a:t>
            </a:r>
            <a:r>
              <a:rPr lang="en-US" altLang="zh-CN" sz="1800" kern="100" dirty="0">
                <a:effectLst/>
                <a:latin typeface="Times New Roman" panose="02020503050405090304" pitchFamily="18" charset="0"/>
                <a:ea typeface="宋体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503050405090304" pitchFamily="18" charset="0"/>
              <a:ea typeface="宋体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补充：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362" y="1563355"/>
            <a:ext cx="10515600" cy="30086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、原型，</a:t>
            </a:r>
            <a:r>
              <a:rPr lang="en-US" altLang="zh-CN" dirty="0"/>
              <a:t>UML</a:t>
            </a:r>
            <a:r>
              <a:rPr lang="zh-CN" altLang="en-US" dirty="0"/>
              <a:t>建模绘制图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、字段必须有校验，前后端校验。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、代码要提前提交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3E4D-252A-84D0-DBFF-EA389AC7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7C195-3DF1-60F6-FDE9-50B9C4E4A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加分项：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80301-D139-6807-8906-FB49F56F5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62" y="1563355"/>
            <a:ext cx="10515600" cy="300864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/>
              <a:t>首页商品信息（策略）</a:t>
            </a:r>
            <a:r>
              <a:rPr lang="zh-CN" altLang="en-US"/>
              <a:t>：怎么展示商品？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zh-CN">
                <a:effectLst/>
              </a:rPr>
              <a:t> 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zh-CN"/>
              <a:t>营销策略</a:t>
            </a:r>
            <a:r>
              <a:rPr lang="zh-CN" altLang="zh-CN">
                <a:effectLst/>
              </a:rPr>
              <a:t> </a:t>
            </a:r>
            <a:r>
              <a:rPr lang="zh-CN" altLang="en-US" dirty="0">
                <a:effectLst/>
              </a:rPr>
              <a:t>：</a:t>
            </a:r>
            <a:r>
              <a:rPr lang="zh-CN" altLang="zh-CN"/>
              <a:t>根据会员等级，商品价格动态变化（不同的会员等级价格会有不同的优惠）</a:t>
            </a:r>
            <a:r>
              <a:rPr lang="zh-CN" altLang="zh-CN">
                <a:effectLst/>
              </a:rPr>
              <a:t>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zh-CN"/>
              <a:t>推荐（协同推荐）</a:t>
            </a:r>
            <a:r>
              <a:rPr lang="zh-CN" altLang="zh-CN">
                <a:effectLst/>
              </a:rPr>
              <a:t> </a:t>
            </a:r>
            <a:endParaRPr lang="en-US" altLang="zh-CN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zh-CN"/>
              <a:t>统计数据可视化展示</a:t>
            </a:r>
            <a:r>
              <a:rPr lang="zh-CN" altLang="zh-CN">
                <a:effectLst/>
              </a:rPr>
              <a:t> 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8774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交付物：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031" y="1324816"/>
            <a:ext cx="9948916" cy="300864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、系统（完成前后端功能，第二周末提交代码扫描，第三周开始提交</a:t>
            </a:r>
            <a:r>
              <a:rPr lang="en-US" altLang="zh-CN" dirty="0"/>
              <a:t>PPT</a:t>
            </a:r>
            <a:r>
              <a:rPr lang="zh-CN" altLang="en-US" dirty="0"/>
              <a:t>并演示功能）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、文档（需求文档、设计文档）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、团队管理有记录（禅道、飞书。。。）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、代码版本控制记录（</a:t>
            </a:r>
            <a:r>
              <a:rPr lang="en-US" altLang="zh-CN" dirty="0" err="1"/>
              <a:t>gitee</a:t>
            </a:r>
            <a:r>
              <a:rPr lang="zh-CN" altLang="en-US" dirty="0"/>
              <a:t>、</a:t>
            </a:r>
            <a:r>
              <a:rPr lang="en-US" altLang="zh-CN" dirty="0"/>
              <a:t>SVN</a:t>
            </a:r>
            <a:r>
              <a:rPr lang="zh-CN" altLang="en-US" dirty="0"/>
              <a:t>。。。）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865" y="124121"/>
            <a:ext cx="10515600" cy="86647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进度安排：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426535" y="990600"/>
          <a:ext cx="9158916" cy="4548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1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299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交付物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具体要求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549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第一周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团队组建、分工，确定开发平台和管理工具，完成需求分析文档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包括原型设计、版本控制、团队管理、开发工具等内容，</a:t>
                      </a:r>
                      <a:r>
                        <a:rPr lang="zh-CN" altLang="en-US" b="1" dirty="0"/>
                        <a:t>需求分析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299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第二周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设计文档、代码提交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完成系统设计文档和系统实现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065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第三周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系统演示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系统演示</a:t>
                      </a: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、系统最终演示、团队管理过程演示、版本控制演示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299">
                <a:tc gridSpan="4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备注：期间有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2-3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次会议记录，提供会议记录和照片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299">
                <a:tc gridSpan="4"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安排两次课讲解相关知识点：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是智能问答助手；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是代码检测和修复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评分要求：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8200" y="1769165"/>
            <a:ext cx="11024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1.</a:t>
            </a:r>
            <a:r>
              <a:rPr lang="zh-CN" altLang="en-US" sz="2800" dirty="0"/>
              <a:t>团队分：项目文档、团队合作、项目代码质量、最终功能完成情况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85194" y="3412440"/>
            <a:ext cx="102803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2.</a:t>
            </a:r>
            <a:r>
              <a:rPr lang="zh-CN" altLang="en-US" sz="2800" dirty="0"/>
              <a:t>个人分：个人课堂表现、考勤、个人对项目贡献（要求每个</a:t>
            </a:r>
            <a:endParaRPr lang="en-US" altLang="zh-CN" sz="2800" dirty="0"/>
          </a:p>
          <a:p>
            <a:r>
              <a:rPr lang="en-US" altLang="zh-CN" sz="2800" dirty="0"/>
              <a:t>                      </a:t>
            </a:r>
            <a:r>
              <a:rPr lang="zh-CN" altLang="en-US" sz="2800" dirty="0"/>
              <a:t>同学必须有代码的工作量）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1459</Words>
  <Application>Microsoft Macintosh PowerPoint</Application>
  <PresentationFormat>宽屏</PresentationFormat>
  <Paragraphs>119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Arial</vt:lpstr>
      <vt:lpstr>Calibri</vt:lpstr>
      <vt:lpstr>Calibri Light</vt:lpstr>
      <vt:lpstr>Times New Roman</vt:lpstr>
      <vt:lpstr>Office 主题</vt:lpstr>
      <vt:lpstr>程序设计实训  2025-2026-2</vt:lpstr>
      <vt:lpstr>学分/学时：3学分/84学时 课程类型：  独立实践课 </vt:lpstr>
      <vt:lpstr>项目要求：</vt:lpstr>
      <vt:lpstr>技术要求：</vt:lpstr>
      <vt:lpstr>采用的开发平台IDE：</vt:lpstr>
      <vt:lpstr>实现功能：</vt:lpstr>
      <vt:lpstr>实现功能：</vt:lpstr>
      <vt:lpstr>实现功能：</vt:lpstr>
      <vt:lpstr>实现功能：</vt:lpstr>
      <vt:lpstr>实现功能：</vt:lpstr>
      <vt:lpstr>功能要求：</vt:lpstr>
      <vt:lpstr>补充：</vt:lpstr>
      <vt:lpstr>加分项：</vt:lpstr>
      <vt:lpstr>交付物：</vt:lpstr>
      <vt:lpstr>进度安排：</vt:lpstr>
      <vt:lpstr>评分要求：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程序设计实训</dc:title>
  <dc:creator>thinkpad</dc:creator>
  <cp:lastModifiedBy>林江毅</cp:lastModifiedBy>
  <cp:revision>79</cp:revision>
  <dcterms:created xsi:type="dcterms:W3CDTF">2026-06-16T15:31:32Z</dcterms:created>
  <dcterms:modified xsi:type="dcterms:W3CDTF">2026-06-22T01:12:49Z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993E8F5F7EA3F807546C316A2B337AA3_43</vt:lpwstr>
  </property>
</Properties>
</file>